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463040"/>
            <a:ext cx="4206240" cy="4206240"/>
          </a:xfrm>
          <a:prstGeom prst="ellipse">
            <a:avLst/>
          </a:prstGeom>
          <a:solidFill>
            <a:srgbClr val="00D4B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8B6FC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087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 ·  GENAI &amp; LLM BOOTCAMP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111858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Fundamentals,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&amp; APIs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88620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8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understand how modern AI works — and build your first working AI app by the end.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6775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Handbook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384984" cy="4709160"/>
          </a:xfrm>
          <a:prstGeom prst="roundRect">
            <a:avLst>
              <a:gd name="adj" fmla="val 3067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1836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GenAI &amp; LLMs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18363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LLM really is, how it thinks in tokens, and the ideas that make it work — attention, temperature, context windows.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36544" y="1463040"/>
            <a:ext cx="2384984" cy="4709160"/>
          </a:xfrm>
          <a:prstGeom prst="roundRect">
            <a:avLst>
              <a:gd name="adj" fmla="val 3067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10864" y="1737360"/>
            <a:ext cx="502920" cy="50292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12" name="Text 10"/>
          <p:cNvSpPr/>
          <p:nvPr/>
        </p:nvSpPr>
        <p:spPr>
          <a:xfrm>
            <a:off x="371086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10864" y="2423160"/>
            <a:ext cx="1836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10864" y="3520440"/>
            <a:ext cx="18363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Zero-shot, few-shot, role prompting, structured outputs, chaining — and how to spot &amp; avoid hallucinations.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70168" y="1463040"/>
            <a:ext cx="2384984" cy="4709160"/>
          </a:xfrm>
          <a:prstGeom prst="roundRect">
            <a:avLst>
              <a:gd name="adj" fmla="val 3067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44488" y="1737360"/>
            <a:ext cx="502920" cy="50292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17" name="Text 15"/>
          <p:cNvSpPr/>
          <p:nvPr/>
        </p:nvSpPr>
        <p:spPr>
          <a:xfrm>
            <a:off x="664448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44488" y="2423160"/>
            <a:ext cx="1836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APIs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44488" y="3520440"/>
            <a:ext cx="18363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call an LLM from code with API keys, HTTP requests, JSON responses, streaming, and cost estimation.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03791" y="1463040"/>
            <a:ext cx="2384984" cy="4709160"/>
          </a:xfrm>
          <a:prstGeom prst="roundRect">
            <a:avLst>
              <a:gd name="adj" fmla="val 3067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78111" y="1737360"/>
            <a:ext cx="502920" cy="50292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22" name="Text 20"/>
          <p:cNvSpPr/>
          <p:nvPr/>
        </p:nvSpPr>
        <p:spPr>
          <a:xfrm>
            <a:off x="9578111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78111" y="2423160"/>
            <a:ext cx="18363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78111" y="3520440"/>
            <a:ext cx="18363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run your own AI Text Generator API — a working single-file Python app you can extend.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463040"/>
            <a:ext cx="4206240" cy="4206240"/>
          </a:xfrm>
          <a:prstGeom prst="ellipse">
            <a:avLst/>
          </a:prstGeom>
          <a:solidFill>
            <a:srgbClr val="00D4B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8B6FC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GenAI &amp; LLMs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402336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8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can build with LLMs, you need to understand what they are, what they can do, and how they work under the hood.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THE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 Machine Learning vs Deep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4754880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D2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33172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E3DBF5"/>
          </a:solidFill>
          <a:ln w="12700">
            <a:solidFill>
              <a:srgbClr val="CDBF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D2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3063240"/>
            <a:ext cx="2560320" cy="2423160"/>
          </a:xfrm>
          <a:prstGeom prst="roundRect">
            <a:avLst>
              <a:gd name="adj" fmla="val 3019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063240"/>
            <a:ext cx="25603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0" y="1600200"/>
            <a:ext cx="4373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60920" y="1965960"/>
            <a:ext cx="43735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system that mimics intelligent behavior — includes rules-based programs, search algorithms, robotics.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0" y="3154680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3108960"/>
            <a:ext cx="4373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60920" y="3474720"/>
            <a:ext cx="43735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that learn patterns from data instead of being explicitly programmed with rules.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0" y="4663440"/>
            <a:ext cx="365760" cy="365760"/>
          </a:xfrm>
          <a:prstGeom prst="ellipse">
            <a:avLst/>
          </a:prstGeom>
          <a:solidFill>
            <a:srgbClr val="1B103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0920" y="4617720"/>
            <a:ext cx="4373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60920" y="4983480"/>
            <a:ext cx="43735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using deep neural networks with many layers. Powers image recognition, speech, and today's LLMs.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Generative AI Went Mainstream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431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Transformer (2017)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431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architecture that could look at every word in a sentence at once — replacing slower, sequential RNNs.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150876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3048" y="1783080"/>
            <a:ext cx="411480" cy="41148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47408" y="1737360"/>
            <a:ext cx="431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47408" y="2286000"/>
            <a:ext cx="431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 the entire internet with billions of parameters unlocked emergent abilities the models weren't explicitly taught.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06240"/>
            <a:ext cx="411480" cy="41148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160520"/>
            <a:ext cx="431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(Nov 2022)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4709160"/>
            <a:ext cx="431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chat interface put a state-of-the-art LLM in every user's hands — 100 million users in 2 months.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78728" y="393192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3048" y="4206240"/>
            <a:ext cx="411480" cy="41148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22" name="Text 20"/>
          <p:cNvSpPr/>
          <p:nvPr/>
        </p:nvSpPr>
        <p:spPr>
          <a:xfrm>
            <a:off x="6553048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47408" y="4160520"/>
            <a:ext cx="431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APIs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147408" y="4709160"/>
            <a:ext cx="43127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developer can now call GPT-4o or Gemini for fractions of a cent and add AI features in an afternoon.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YOU'LL USE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in Software Engineering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625014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09928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Assistants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2592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Copilot, Cursor — write, refactor, and explain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6534" y="1508760"/>
            <a:ext cx="2625014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9414" y="1709928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12" name="Text 10"/>
          <p:cNvSpPr/>
          <p:nvPr/>
        </p:nvSpPr>
        <p:spPr>
          <a:xfrm>
            <a:off x="3539414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9414" y="21945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39414" y="2743200"/>
            <a:ext cx="22592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READMEs, docstrings, API docs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0148" y="1508760"/>
            <a:ext cx="2625014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3028" y="1709928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17" name="Text 15"/>
          <p:cNvSpPr/>
          <p:nvPr/>
        </p:nvSpPr>
        <p:spPr>
          <a:xfrm>
            <a:off x="639302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3028" y="21945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&amp; Support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93028" y="2743200"/>
            <a:ext cx="22592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 assistants trained on your docs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63761" y="1508760"/>
            <a:ext cx="2625014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6641" y="1709928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22" name="Text 20"/>
          <p:cNvSpPr/>
          <p:nvPr/>
        </p:nvSpPr>
        <p:spPr>
          <a:xfrm>
            <a:off x="9246641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46641" y="21945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Q&amp;A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46641" y="2743200"/>
            <a:ext cx="22592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“Talk to your documents” over PDFs, wikis, tickets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3886200"/>
            <a:ext cx="2625014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087368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457200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Extraction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5800" y="5120640"/>
            <a:ext cx="22592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messy emails or PDFs into clean structured JSON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56534" y="3886200"/>
            <a:ext cx="2625014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39414" y="4087368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32" name="Text 30"/>
          <p:cNvSpPr/>
          <p:nvPr/>
        </p:nvSpPr>
        <p:spPr>
          <a:xfrm>
            <a:off x="3539414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39414" y="457200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Generation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539414" y="5120640"/>
            <a:ext cx="22592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Emails, marketing copy, product descriptions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886200"/>
            <a:ext cx="2625014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93028" y="4087368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93028" y="457200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393028" y="5120640"/>
            <a:ext cx="22592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test cases and edge-case scenarios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63761" y="3886200"/>
            <a:ext cx="2625014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46641" y="4087368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42" name="Text 40"/>
          <p:cNvSpPr/>
          <p:nvPr/>
        </p:nvSpPr>
        <p:spPr>
          <a:xfrm>
            <a:off x="9246641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46641" y="457200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246641" y="5120640"/>
            <a:ext cx="22592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that plan, call tools, and take actions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Large Language Model?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ONE-SENTENCE 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Language Model is a neural network trained on huge amounts of text that learns to predict the next word (token) in a sequence.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 Everything an LLM does — writing, coding, translating, answering questions — is just repeated next-token prediction, one token at a time.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it saw billions of examples during training, it “knows” grammar, facts, code patterns, and even how to reason step by step.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NEXT-TOKEN PREDICTION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“The capital of France is”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predicts probabilities: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“Paris”    →  92%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“the”      →   4%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“home”     →   2%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“known”    →   1%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picks “Paris”, appends it,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predicts the NEXT token.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until done.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1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— The Alphabet of LLMs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TOKEN?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 is a chunk of text an LLM works with. It's not always a whole word — often it's a piece of a word, punctuation, or a space.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average, 1 token ≈ 4 characters or ~0.75 English words.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measured in tokens: input length, output length, context limits, and cost. Understanding tokens is the first step to writing efficient prompts and estimating cost.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TEXT → TOKENS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“ChatGPT is amazing!”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Tokenized as: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[“Chat”] [“G”] [“PT”]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[“ is”] [“ amazing”] [“!”]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6 tokens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“Hello”          → 1 token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“unbelievable”   → 2 tokens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“🚀”              → 3 tokens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of thumb: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100 tokens ≈ 75 English words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2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 — The Model's Short-Term Memory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CONTEXT WINDOW?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window is the maximum number of tokens a model can “see” at once — your prompt + any prior conversation + the response.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beyond that limit is cut off or forgotten.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models have huge windows, but bigger isn't always better: more context = higher cost and sometimes worse recall of details in the middle.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REAL MODEL LIMITS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GPT-3.5 Turbo   →   16K tokens   (≈ 12K words)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          →  128K tokens   (≈ 96K words)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1.5 Pro  →    1M tokens   (≈ 750K words)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Sonnet   →  200K tokens   (≈ 150K words)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128K tokens can hold: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a 300-page book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an entire small codebase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hours of meeting transcripts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keep prompts as short as possible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losing meaning.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3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— What the Model “Knows”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PARAMETERS?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are the internal numbers (weights) the model adjusts during training. Think of them as the “brain cells” that store what the model has learned.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parameters generally means more capacity to learn complex patterns — but also higher training cost, higher inference cost, and more hardware needed to run.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frontier models have hundreds of billions to trillions of parameters.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MODEL SIZES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GPT-2         →      1.5 Billion params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GPT-3         →      175 Billion params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 3 8B    →        8 Billion params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 3 70B   →       70 Billion params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         →  ~1.7 Trillion (rumored)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Tradeoffs: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Bigger  = smarter, but slower &amp; pricier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Smaller = faster &amp; cheaper,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often good enough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small. Only scale up if you must.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4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vs Inference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the model.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86140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it billions of examples of text
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adjusts its internal parameters
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weeks or months
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millions of dollars in GPUs
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ONCE by companies like OpenAI, Google, Meta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539496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(usually) don't do this.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1B1033"/>
          </a:solidFill>
          <a:ln w="12700">
            <a:solidFill>
              <a:srgbClr val="1B1033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53048" y="196596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trained model.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53048" y="2468880"/>
            <a:ext cx="486140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it a prompt, get a response
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model's parameters are FROZEN
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milliseconds to seconds
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fractions of a cent per call
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MANY times — every API call = one inference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53048" y="539496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YOUR app will do.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5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— Controlling Creativity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389120" cy="4709160"/>
          </a:xfrm>
          <a:prstGeom prst="roundRect">
            <a:avLst>
              <a:gd name="adj" fmla="val 1667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TEMPERATURE?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840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(0.0 – 2.0) controls how random the model's output is.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= focused, deterministic, repeats itself.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= creative, varied, sometimes weird.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single most important knob you'll turn when calling an LLM.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257800" y="1417320"/>
            <a:ext cx="6430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“Write one sentence about coffee.”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1828800"/>
            <a:ext cx="6430975" cy="1417320"/>
          </a:xfrm>
          <a:prstGeom prst="roundRect">
            <a:avLst>
              <a:gd name="adj" fmla="val 5161"/>
            </a:avLst>
          </a:prstGeom>
          <a:solidFill>
            <a:srgbClr val="1B1033"/>
          </a:solidFill>
          <a:ln w="12700">
            <a:solidFill>
              <a:srgbClr val="1B1033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2011680"/>
            <a:ext cx="822960" cy="365760"/>
          </a:xfrm>
          <a:prstGeom prst="roundRect">
            <a:avLst>
              <a:gd name="adj" fmla="val 375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5059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468880"/>
            <a:ext cx="59737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“Coffee is a popular beverage made from roasted coffee beans.”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57800" y="3383280"/>
            <a:ext cx="6430975" cy="1417320"/>
          </a:xfrm>
          <a:prstGeom prst="roundRect">
            <a:avLst>
              <a:gd name="adj" fmla="val 5161"/>
            </a:avLst>
          </a:prstGeom>
          <a:solidFill>
            <a:srgbClr val="1B1033"/>
          </a:solidFill>
          <a:ln w="12700">
            <a:solidFill>
              <a:srgbClr val="1B1033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3566160"/>
            <a:ext cx="822960" cy="365760"/>
          </a:xfrm>
          <a:prstGeom prst="roundRect">
            <a:avLst>
              <a:gd name="adj" fmla="val 37500"/>
            </a:avLst>
          </a:prstGeom>
          <a:solidFill>
            <a:srgbClr val="3D2B6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0.7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566160"/>
            <a:ext cx="5059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(Default)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4023360"/>
            <a:ext cx="59737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warm cup of coffee in the morning is one of life's small daily pleasures.”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57800" y="4937760"/>
            <a:ext cx="6430975" cy="1417320"/>
          </a:xfrm>
          <a:prstGeom prst="roundRect">
            <a:avLst>
              <a:gd name="adj" fmla="val 5161"/>
            </a:avLst>
          </a:prstGeom>
          <a:solidFill>
            <a:srgbClr val="1B1033"/>
          </a:solidFill>
          <a:ln w="12700">
            <a:solidFill>
              <a:srgbClr val="1B1033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5120640"/>
            <a:ext cx="822960" cy="365760"/>
          </a:xfrm>
          <a:prstGeom prst="roundRect">
            <a:avLst>
              <a:gd name="adj" fmla="val 37500"/>
            </a:avLst>
          </a:prstGeom>
          <a:solidFill>
            <a:srgbClr val="8B6FC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5120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1.5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120640"/>
            <a:ext cx="5059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Wildly Creative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5577840"/>
            <a:ext cx="59737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“Coffee is liquid courage brewed from tiny obsidian pebbles that once whispered to goats.”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6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Top-P — The Other Randomness Knob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TOP-P (NUCLEUS SAMPLING)?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 (0.0 – 1.0) tells the model: “Only consider tokens that together make up the top P probability mass.”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 = 0.1  → only the most likely tokens (safe)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 = 1.0  → consider everything (varied)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 EITHER temperature OR top-p, not both.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Leave top-p at 1.0 and just tune temperature — it's simpler and usually enough.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SAME PROMPT, DIFFERENT TOP-P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“My favorite fruit is”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possible next tokens (sorted):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apple  40%   ┬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mango  25%   │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grape  15%   │ Top-P = 0.8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peach  10%   ┴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------------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kiwi    5%   ─ excluded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durian  3%   ─ excluded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lychee  2%   ─ excluded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top_p=0.8, the model samples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from apple/mango/grape/peach.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“kiwi” and “durian” never appear.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7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Token — Money Talk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LLM PRICING WORKS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per token — separately for input (your prompt) and output (the model's response).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tokens are usually 3–5× more expensive than input tokens.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are quoted per 1 million tokens (1M).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≠ worse. Always start with the cheapest model that solves your problem, and only upgrade if quality isn't good enough.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REAL PRICING (ILLUSTRATIVE)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          Input / 1M    Output / 1M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      $0.15         $0.60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           $2.50         $10.00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1.5 Flash $0.075        $0.30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Haiku     $0.25         $1.25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of ONE call (GPT-4o-mini):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  = 500 tokens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Reply   = 300 tokens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 = (500 × 0.15 + 300 × 0.60) / 1M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= $0.000255  ≈  0.025 cents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4,000 calls of this size ≈ $1.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Transformers Replaced RNNs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BEDEF"/>
          </a:solidFill>
          <a:ln w="12700">
            <a:solidFill>
              <a:srgbClr val="F3D6DA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WAY: RNNs (2014-ish)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text one word at a time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86140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— can't be parallelized
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to train, especially on long text
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Forgets early words by the time it reaches the end
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Struggles with long-range dependencies (“the man ... he”)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EAF7F2"/>
          </a:solidFill>
          <a:ln w="12700">
            <a:solidFill>
              <a:srgbClr val="CDEEE0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WAY: TRANSFORMERS (2017)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53048" y="196596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all words at once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53048" y="2468880"/>
            <a:ext cx="486140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— all words processed simultaneously
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Trains fast on GPUs (thousands in parallel)
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lets any word connect to any other word
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long-range dependencies easily
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gracefully with more data + more parameters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Attention Mechanism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ATTENTION?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word it processes, the model asks: “Which OTHER words in this sentence matter most for understanding me?”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assigns an attention score to every other word and uses those scores to build a rich, context-aware representation.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LLMs handle grammar, references, and long documents so well — every token can “pay attention” to every other token that's relevant, no matter how far away.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“THE ANIMAL DIDN'T CROSS THE STREET BECAUSE IT WAS TOO TIRED.”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the model reads the word: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“it”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 scores (simplified):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animal    →  0.82   ⭐ highest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didn't    →  0.03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cross     →  0.02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       →  0.01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street    →  0.09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because   →  0.01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was       →  0.01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tired     →  0.01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 correctly figures out that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“it” refers to “animal” — not “street”.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THAT STARTED IT 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“Attention Is All You Need” (2017)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 et al., Google Brain, June 2017.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 brand-new architecture called the Transformer that used only attention — no recurrence, no convolutions.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Originally designed for machine translation (English → German), it beat all previous approaches while training much faster.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modern LLM you've heard of — GPT, Gemini, Claude, LLaMA — is built on this exact architecture.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1B1033"/>
          </a:solidFill>
          <a:ln w="12700">
            <a:solidFill>
              <a:srgbClr val="1B1033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FAMILY TREE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2011680"/>
            <a:ext cx="486140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  →  Transformer (Google)</a:t>
            </a:r>
            <a:endParaRPr lang="en-US" sz="13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  →  BERT, GPT-1</a:t>
            </a:r>
            <a:endParaRPr lang="en-US" sz="13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  →  GPT-2</a:t>
            </a:r>
            <a:endParaRPr lang="en-US" sz="13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  →  GPT-3  (175B params)</a:t>
            </a:r>
            <a:endParaRPr lang="en-US" sz="13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  →  ChatGPT launches</a:t>
            </a:r>
            <a:endParaRPr lang="en-US" sz="13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  →  GPT-4, LLaMA, Claude</a:t>
            </a:r>
            <a:endParaRPr lang="en-US" sz="13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  →  GPT-4o, Gemini 1.5, Claude 3</a:t>
            </a:r>
            <a:endParaRPr lang="en-US" sz="13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 →  Reasoning models (o1, o3)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LLMs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299709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confidently make up facts, citations, and code that don't exist.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978" y="150876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1578" y="1737360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12" name="Text 10"/>
          <p:cNvSpPr/>
          <p:nvPr/>
        </p:nvSpPr>
        <p:spPr>
          <a:xfrm>
            <a:off x="455157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00218" y="169164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Cutoff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7298" y="2286000"/>
            <a:ext cx="299709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knows what existed in its training data — no idea about last week's news.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43037" y="150876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1637" y="1737360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17" name="Text 15"/>
          <p:cNvSpPr/>
          <p:nvPr/>
        </p:nvSpPr>
        <p:spPr>
          <a:xfrm>
            <a:off x="8371637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20277" y="169164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at Math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7357" y="2286000"/>
            <a:ext cx="299709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tokens is not calculating. Give it a calculator tool for anything precise.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06908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Memory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663440"/>
            <a:ext cx="299709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Forgets everything between calls unless YOU pass the conversation history back in.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22978" y="388620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1578" y="4114800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27" name="Text 25"/>
          <p:cNvSpPr/>
          <p:nvPr/>
        </p:nvSpPr>
        <p:spPr>
          <a:xfrm>
            <a:off x="4551578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00218" y="406908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Costs Money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97298" y="4663440"/>
            <a:ext cx="299709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prompts = more tokens = more $$. Every character counts at scale.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43037" y="3886200"/>
            <a:ext cx="3545738" cy="2103120"/>
          </a:xfrm>
          <a:prstGeom prst="roundRect">
            <a:avLst>
              <a:gd name="adj" fmla="val 3478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71637" y="4114800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32" name="Text 30"/>
          <p:cNvSpPr/>
          <p:nvPr/>
        </p:nvSpPr>
        <p:spPr>
          <a:xfrm>
            <a:off x="8371637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20277" y="406908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in, Bias out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7357" y="4663440"/>
            <a:ext cx="299709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internet text — reflects biases, stereotypes, and errors from that data.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463040"/>
            <a:ext cx="4206240" cy="4206240"/>
          </a:xfrm>
          <a:prstGeom prst="ellipse">
            <a:avLst/>
          </a:prstGeom>
          <a:solidFill>
            <a:srgbClr val="00D4B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8B6FC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402336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8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is your only interface to an LLM. Small changes to your prompt can dramatically change the quality of the output.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ANATOMY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 vs User Prompt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TYPES OF PROMPTS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LLM APIs let you send messages with different “roles”: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— sets the model's identity, tone, rules, and constraints. Sent ONCE at the start.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— the actual question or task from the person interacting with the model.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assistant — the model's previous replies (used for multi-turn chat).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prompt is like giving an employee their job description before they start work.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RECIPE ASSISTANT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"role": "system",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"You are a friendly chef.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Only answer questions about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cooking. Refuse anything else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politely."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"role": "user",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"How do I make dal tadka?"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Model answers with a recipe.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 asks: “Who won the World Cup?”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Model politely refuses.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Prompting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ASK, NO EXAMPLES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means: you describe the task and let the model figure it out — WITHOUT giving any example inputs or outputs.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when: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task is common (translation, summarization, Q&amp;A)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instructions are crystal clear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model has seen similar tasks in training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here. Only use few-shot if zero-shot doesn't give you the format or quality you need.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SENTIMENT CLASSIFICATION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Classify the sentiment of this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 as positive, negative,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neutral.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Review: “The food was cold and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waiter was rude.”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Sentiment: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output: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negative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examples needed. The model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already understands “sentiment.”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Prompting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DON'T JUST TELL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means: you include 2–5 example input/output pairs in your prompt BEFORE the real question.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learns the format and style from your examples and mimics it.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need a very specific output format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task is unusual or domain-specific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Zero-shot got the answer right but in the wrong shape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examples ≠ always better. 3 well-chosen ones usually beat 10 mediocre ones.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CUSTOM FORMAT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Convert product names into SKUs.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Product: Red Wireless Mouse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SKU: MOU-RED-WL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Product: Blue Bluetooth Speaker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SKU: SPK-BLU-BT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Product: Black Gaming Keyboard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SKU: KEY-BLK-GM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Product: Silver USB Hub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SKU: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output: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HUB-SLV-USB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Followed the pattern perfectly.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Prompting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MODEL A PERSONA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model WHO it is before asking a question. This anchors its tone, depth, vocabulary, and perspective.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“Act as a Senior Software Engineer” produces very different output than “Explain this like I'm 5.”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because during training the model saw millions of examples of doctors, teachers, lawyers, engineers etc. explaining things — asking it to play that role activates the right patterns.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specific: “senior backend engineer with 10 years of Django experience” beats “programmer.”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SAME QUESTION, TWO ROLES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“What is recursion?”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= “Elementary school teacher”: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“Imagine looking into two mirrors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facing each other — you see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yourself again and again. That's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recursion: a function calling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itself, smaller each time.”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= “Interviewer at Google”: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“Recursion is a technique where a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function invokes itself with a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smaller subproblem until a base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case is reached. Common in tree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traversal, DP, and divide-and-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conquer algorithms. Watch for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stack overflow on deep inputs.”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Prompting &amp; JSON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A PREDICTABLE SHAPE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app is going to READ the model's output with code, you need it in a strict format — usually JSON.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tricks: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Show the exact JSON schema you want.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Say “Return ONLY valid JSON. No prose, no markdown.”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the API's built-in JSON mode if available (response_format="json_object").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these, you'll get “Sure! Here's the JSON: ```json ... ```” — which breaks JSON.parse().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EXTRACT DATA FROM 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Extract the details from this email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return them as JSON with keys: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 email, phone, request.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ONLY the JSON. No prose.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“Hi, I'm Rahul (rahul@x.com,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+91-9876543210). I want a demo of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your product next week.”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output: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"Rahul",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"email": "rahul@x.com",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"phone": "+91-9876543210",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"request": "Product demo next week"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BIG TASK → MANY SMALL ONES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asking the model to do everything in one giant prompt, break the task into steps and pass the output of one prompt as the input to the next.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works: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step is simpler = fewer errors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can inspect and fix intermediate results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can use cheaper models for easy steps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foundation of every AI “agent” and workflow tool you'll ever build.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BLOG POST GENERATOR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— Ideate: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Prompt: “Give me 5 blog post ideas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about Python for beginners.”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Output: [list of 5 titles]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— Outline (pick one title):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Prompt: “Create a 5-section outline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for: &lt;title from step 1&gt;”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Output: [outline]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— Write: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Prompt: “Write the full blog post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using this outline: &lt;outline&gt;”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Output: [full article]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— Polish: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Prompt: “Proofread and improve: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&lt;article&gt;”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Output: [final article]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FAILURE MODE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Hallucinations — When the Model Lies Confidently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HALLUCINATIONS?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hallucination is when the model produces something that SOUNDS confident and correct — but is completely made up.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happens: the model is predicting the most PLAUSIBLE next tokens, not the TRUE ones.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reduce them: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Say “If you don't know, say ‘I don't know'”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Give it real data (RAG — Day 2)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Ask it to cite sources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Lower temperature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trust facts, dates, citations, or code without verifying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CLASSIC HALLUCINATION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“Who won the Nobel Prize in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Physics in 2027?”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(The prompt is asking about the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— the answer cannot exist.)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model output: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“Dr. Elena Vasquez of MIT won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 her work on quantum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entanglement stabilization.”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⬆️  Completely fabricated.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prompt: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“If you don't know the answer,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say ‘I don't have that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information.'”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output: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“I don't have information about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Nobel Prize winners for 2027.”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ALL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Refinement — Bad vs Improved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BEDEF"/>
          </a:solidFill>
          <a:ln w="12700">
            <a:solidFill>
              <a:srgbClr val="F3D6DA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 PROMPT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4861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“Explain Binary Search.”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wrong: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486140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role — who's answering?
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audience — how deep?
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format — paragraph? code? both?
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language — Python? Java?
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goal — for interviews? beginners?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EAF7F2"/>
          </a:solidFill>
          <a:ln w="12700">
            <a:solidFill>
              <a:srgbClr val="CDEEE0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3048" y="160020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IMPROVED PROMPT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53048" y="1920240"/>
            <a:ext cx="4861408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as a Senior Software Engineer.
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Binary Search for interview
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prep. Include: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algorithm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code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space complexity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run on [1,3,5,7,9]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follow-up interview questions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463040"/>
            <a:ext cx="4206240" cy="4206240"/>
          </a:xfrm>
          <a:prstGeom prst="ellipse">
            <a:avLst/>
          </a:prstGeom>
          <a:solidFill>
            <a:srgbClr val="00D4B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8B6FC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APIs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402336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8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that you know how prompts work, let's call an LLM from actual code — the same way every AI product on the internet does.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Keys — Your Access Pass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API KEY?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random string that identifies YOU when you call the LLM API. Every call is billed to the account that owns the key.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to live by: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paste your key into public code, GitHub, or Slack.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 it in an environment variable, not in your source code.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Rotate (regenerate) it if you ever leak it.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a hard monthly usage limit in your provider dashboard.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Leaked keys get scraped by bots within minutes and can rack up huge bills overnight.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STORING &amp; LOADING A KEY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(Linux / Mac):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OPENAI_API_KEY="sk-abc123..."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(Windows CMD):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set OPENAI_API_KEY=sk-abc123...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use a .env file: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OPENAI_API_KEY=sk-abc123...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os.getenv("OPENAI_API_KEY")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do this: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api_key="sk-abc123..."   # ❌ bad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 this instead: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reads OPENAI_API_KEY from env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Request &amp; Response JSON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 —  what you SEND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486140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https://api.openai.com/v1/chat/completions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Authorization: Bearer sk-abc123...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Content-Type: application/json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"gpt-4o-mini",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"messages": [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"role": "user",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"content": "Say hello in 3 languages"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"temperature": 0.7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0020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 —  what you 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20240"/>
            <a:ext cx="486140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"chatcmpl-abc",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"gpt-4o-mini",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"choices": [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"message":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"role": "assistant",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"content": "Hello! Bonjour! Hola!"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"finish_reason": "stop"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"usage":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"prompt_tokens": 12,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"completion_tokens": 8,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"total_tokens": 20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Streaming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you'll see: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8614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  —  Invalid API key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  —  Rate limit exceeded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 —  Server error (retry!)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insufficient_quota  —  Out of credits
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context_length_exceeded  —  Prompt too long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709160"/>
            <a:ext cx="4861408" cy="1234440"/>
          </a:xfrm>
          <a:prstGeom prst="roundRect">
            <a:avLst>
              <a:gd name="adj" fmla="val 5926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00600"/>
            <a:ext cx="45870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reply = client.chat.completions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.create(model=..., messages=...)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print("LLM call failed:", 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RESPONSES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3048" y="196596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tokens as they're generated.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53048" y="2423160"/>
            <a:ext cx="486140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streaming: wait for the whole reply (feels slow).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streaming: text appears word by word — the ChatGPT effect. Great for chat UIs.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53048" y="3931920"/>
            <a:ext cx="4861408" cy="2011680"/>
          </a:xfrm>
          <a:prstGeom prst="roundRect">
            <a:avLst>
              <a:gd name="adj" fmla="val 3636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0208" y="4023360"/>
            <a:ext cx="45870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 = client.chat.completions.create(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model="gpt-4o-mini",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messages=[...],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stream=True,   # ⬅ the magic word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chunk in stream: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chunk.choices[0].delta.content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"", end=""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Usage &amp; Cost Estimation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RESPONSE TELLS YOU WHAT IT COST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response includes a usage object with: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prompt_tokens — what you sent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completion_tokens — what came back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total_tokens — sum of both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by the model's per-token price and you have exact cost for that call.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this for every request in production so you can: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 cost per feature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Catch runaway prompts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Optimize the expensive ones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LIVE COST CALCULATION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048" y="1965960"/>
            <a:ext cx="48614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.create(model="gpt-4o-mini", ...)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= response.usage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print(usage.prompt_tokens)      # 120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print(usage.completion_tokens)  # 350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print(usage.total_tokens)       # 470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GPT-4o-mini pricing (per 1M):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  = $0.15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 = $0.60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= (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usage.prompt_tokens     * 0.15 +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usage.completion_tokens * 0.60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1_000_000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print(f"$ {cost:.6f}")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$ 0.000228   (~0.023 cents)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463040"/>
            <a:ext cx="4206240" cy="4206240"/>
          </a:xfrm>
          <a:prstGeom prst="ellipse">
            <a:avLst/>
          </a:prstGeom>
          <a:solidFill>
            <a:srgbClr val="00D4B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8B6FC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377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Project: AI Text Generator API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402336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8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just learned, packed into one Python file. Under 40 lines of code, runs in a browser.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Text Generator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3708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0868" y="16916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 →  POST /generate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09748" y="169164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29788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66948" y="16916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receives {"prompt": ...}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35828" y="169164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55868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93028" y="16916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to OpenAI API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61908" y="169164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81948" y="1691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19108" y="169164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JSON to you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474720"/>
            <a:ext cx="2625014" cy="1737360"/>
          </a:xfrm>
          <a:prstGeom prst="roundRect">
            <a:avLst>
              <a:gd name="adj" fmla="val 4211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657600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526280"/>
            <a:ext cx="22592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lives in main.py — no folders, no config, no yaml.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56534" y="3474720"/>
            <a:ext cx="2625014" cy="1737360"/>
          </a:xfrm>
          <a:prstGeom prst="roundRect">
            <a:avLst>
              <a:gd name="adj" fmla="val 4211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39414" y="3657600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23" name="Text 21"/>
          <p:cNvSpPr/>
          <p:nvPr/>
        </p:nvSpPr>
        <p:spPr>
          <a:xfrm>
            <a:off x="3539414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39414" y="411480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Endpoint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39414" y="4526280"/>
            <a:ext cx="22592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/generate with a JSON body of {"prompt": "..."} — done.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3474720"/>
            <a:ext cx="2625014" cy="1737360"/>
          </a:xfrm>
          <a:prstGeom prst="roundRect">
            <a:avLst>
              <a:gd name="adj" fmla="val 4211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93028" y="3657600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93028" y="411480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Docs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93028" y="4526280"/>
            <a:ext cx="22592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gives you a free Swagger UI at /docs — click, test, iterate.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63761" y="3474720"/>
            <a:ext cx="2625014" cy="1737360"/>
          </a:xfrm>
          <a:prstGeom prst="roundRect">
            <a:avLst>
              <a:gd name="adj" fmla="val 4211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46641" y="3657600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33" name="Text 31"/>
          <p:cNvSpPr/>
          <p:nvPr/>
        </p:nvSpPr>
        <p:spPr>
          <a:xfrm>
            <a:off x="9246641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46641" y="411480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Extendable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46641" y="4526280"/>
            <a:ext cx="22592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endpoints (/blog, /email, /haiku) using the same pattern.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— Two Commands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185855" cy="1188720"/>
          </a:xfrm>
          <a:prstGeom prst="roundRect">
            <a:avLst>
              <a:gd name="adj" fmla="val 6154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INSTALL DEPENDENCIES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E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pip install fastapi uvicorn openai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1185855" cy="1188720"/>
          </a:xfrm>
          <a:prstGeom prst="roundRect">
            <a:avLst>
              <a:gd name="adj" fmla="val 6154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97180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SET YOUR API KEY (get one at platform.openai.com)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E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export OPENAI_API_KEY="sk-your-actual-key-here"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4343400"/>
            <a:ext cx="11185855" cy="1691640"/>
          </a:xfrm>
          <a:prstGeom prst="roundRect">
            <a:avLst>
              <a:gd name="adj" fmla="val 432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48056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800600"/>
            <a:ext cx="106372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Windows CMD, use  set OPENAI_API_KEY=sk-...  (no quotes, no export)
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3.9 or newer is required.
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3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 — no database, no accounts, no config files.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— main.py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85855" cy="4754880"/>
          </a:xfrm>
          <a:prstGeom prst="roundRect">
            <a:avLst>
              <a:gd name="adj" fmla="val 1538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  —  a complete FastAPI app in ~25 lines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637215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FastAPI(title="AI Text Generator")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OpenAI(api_key=os.getenv("OPENAI_API_KEY"))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PromptRequest(BaseModel):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prompt: str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root():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{"message": "AI Text Generator is running. POST to /generate"}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@app.post("/generate")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generate_text(req: PromptRequest):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client.chat.completions.create(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model="gpt-4o-mini",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 req.prompt}],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{"prompt": req.prompt, "response": response.choices[0].message.content}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&amp; Test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START THE SERVER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4861408" cy="685800"/>
          </a:xfrm>
          <a:prstGeom prst="roundRect">
            <a:avLst>
              <a:gd name="adj" fmla="val 10667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57400"/>
            <a:ext cx="458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E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uvicorn main:app --reload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should see: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4861408" cy="685800"/>
          </a:xfrm>
          <a:prstGeom prst="roundRect">
            <a:avLst>
              <a:gd name="adj" fmla="val 10667"/>
            </a:avLst>
          </a:prstGeom>
          <a:solidFill>
            <a:srgbClr val="0F0821"/>
          </a:solidFill>
          <a:ln w="12700">
            <a:solidFill>
              <a:srgbClr val="0F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458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running on http://127.0.0.1:8000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open in your browser: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389120"/>
            <a:ext cx="4861408" cy="685800"/>
          </a:xfrm>
          <a:prstGeom prst="roundRect">
            <a:avLst>
              <a:gd name="adj" fmla="val 10667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389120"/>
            <a:ext cx="4861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http://127.0.0.1:8000/docs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212080"/>
            <a:ext cx="4861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⬆️ FastAPI's free interactive UI (Swagger). Click “Try it out” and hit Execute — no Postman needed.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1B1033"/>
          </a:solidFill>
          <a:ln w="12700">
            <a:solidFill>
              <a:srgbClr val="1B1033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3048" y="16459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TEST WITH CURL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53048" y="2011680"/>
            <a:ext cx="48614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DE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\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DE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http://127.0.0.1:8000/generate \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DE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-H "Content-Type: application/json" \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DE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'{"prompt": "Write a haiku about coding"}'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53048" y="3703320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53048" y="4023360"/>
            <a:ext cx="486140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"prompt": "Write a haiku about coding",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"response": "Fingers dance on keys,\n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Bugs hide in silent shadows,\n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Coffee fuels the mind."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IT FURTHER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Your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664208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/blog Endpoint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29970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a topic and returns a full blog post. Use a system prompt to enforce structure (intro, 3 sections, conclusion).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2978" y="146304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4146" y="1664208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12" name="Text 10"/>
          <p:cNvSpPr/>
          <p:nvPr/>
        </p:nvSpPr>
        <p:spPr>
          <a:xfrm>
            <a:off x="4524146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00218" y="164592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/email Endpoint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97298" y="2194560"/>
            <a:ext cx="29970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{to, purpose, tone} and generates a professional email. Great use of role prompting.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43037" y="146304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4205" y="1664208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17" name="Text 15"/>
          <p:cNvSpPr/>
          <p:nvPr/>
        </p:nvSpPr>
        <p:spPr>
          <a:xfrm>
            <a:off x="8344205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20277" y="164592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/interview-questions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7357" y="2194560"/>
            <a:ext cx="29970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a topic + difficulty and returns 5 questions with expected answers. Use JSON output mode.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" y="4087368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06908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Temperature Control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29970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caller pass “temperature” in the request body — default to 0.7.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2978" y="388620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4146" y="4087368"/>
            <a:ext cx="365760" cy="365760"/>
          </a:xfrm>
          <a:prstGeom prst="ellipse">
            <a:avLst/>
          </a:prstGeom>
          <a:solidFill>
            <a:srgbClr val="3D2B66"/>
          </a:solidFill>
          <a:ln/>
        </p:spPr>
      </p:sp>
      <p:sp>
        <p:nvSpPr>
          <p:cNvPr id="27" name="Text 25"/>
          <p:cNvSpPr/>
          <p:nvPr/>
        </p:nvSpPr>
        <p:spPr>
          <a:xfrm>
            <a:off x="4524146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00218" y="406908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Token Usage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97298" y="4617720"/>
            <a:ext cx="29970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prompt_tokens, completion_tokens, and cost in every response.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43037" y="3886200"/>
            <a:ext cx="3545738" cy="2148840"/>
          </a:xfrm>
          <a:prstGeom prst="roundRect">
            <a:avLst>
              <a:gd name="adj" fmla="val 3404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4205" y="4087368"/>
            <a:ext cx="365760" cy="365760"/>
          </a:xfrm>
          <a:prstGeom prst="ellipse">
            <a:avLst/>
          </a:prstGeom>
          <a:solidFill>
            <a:srgbClr val="8B6FCE"/>
          </a:solidFill>
          <a:ln/>
        </p:spPr>
      </p:sp>
      <p:sp>
        <p:nvSpPr>
          <p:cNvPr id="32" name="Text 30"/>
          <p:cNvSpPr/>
          <p:nvPr/>
        </p:nvSpPr>
        <p:spPr>
          <a:xfrm>
            <a:off x="8344205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20277" y="406908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Streaming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17357" y="4617720"/>
            <a:ext cx="29970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/generate/stream that returns tokens as they arrive. The ChatGPT effect in ~5 lines.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Now Know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440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are next-token predictors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440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huge amounts of text, running on the Transformer architecture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14173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7328" y="16459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5968" y="1600200"/>
            <a:ext cx="440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knobs are tokens, context window, and temperature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55968" y="2103120"/>
            <a:ext cx="440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builds on top of these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06324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2918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440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have anatomy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440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+ user roles, zero/few-shot, role prompting, structured JSON, chaining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8728" y="306324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7328" y="32918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5968" y="3246120"/>
            <a:ext cx="440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Hallucinations are the default failure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55968" y="3749040"/>
            <a:ext cx="440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can be reduced with good prompting and grounding (RAG on Day 2)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70916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9377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4892040"/>
            <a:ext cx="440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an LLM is just an HTTP POST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80160" y="5394960"/>
            <a:ext cx="440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API keys, request/response, streaming, and cost estimation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78728" y="470916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F3F0FA"/>
          </a:solidFill>
          <a:ln w="12700">
            <a:solidFill>
              <a:srgbClr val="E3DBF5"/>
            </a:solidFill>
            <a:prstDash val="solid"/>
          </a:ln>
          <a:effectLst>
            <a:outerShdw sx="100000" sy="100000" kx="0" ky="0" algn="bl" rotWithShape="0" blurRad="76200" dist="25400" dir="5400000">
              <a:srgbClr val="3D2B66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07328" y="49377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6507328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55968" y="4892040"/>
            <a:ext cx="440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and ran a real API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55968" y="5394960"/>
            <a:ext cx="440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Text Generator is the foundation for every project this week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463040"/>
            <a:ext cx="4206240" cy="4206240"/>
          </a:xfrm>
          <a:prstGeom prst="ellipse">
            <a:avLst/>
          </a:prstGeom>
          <a:solidFill>
            <a:srgbClr val="00D4B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8B6FC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031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just built your first AI app.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566160"/>
            <a:ext cx="93570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C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we teach the model to answer questions from YOUR documents — with Embeddings, Vector Databases, and RAG.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LLM Bootcamp  ·  Day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6775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GenAI &amp; LLM Bootcamp — Day 1</dc:creator>
  <cp:lastModifiedBy>GenAI &amp; LLM Bootcamp — Day 1</cp:lastModifiedBy>
  <cp:revision>1</cp:revision>
  <dcterms:created xsi:type="dcterms:W3CDTF">2026-07-31T18:04:10Z</dcterms:created>
  <dcterms:modified xsi:type="dcterms:W3CDTF">2026-07-31T18:04:10Z</dcterms:modified>
</cp:coreProperties>
</file>